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Figtree Medium"/>
      <p:regular r:id="rId29"/>
      <p:bold r:id="rId30"/>
      <p:italic r:id="rId31"/>
      <p:boldItalic r:id="rId32"/>
    </p:embeddedFont>
    <p:embeddedFont>
      <p:font typeface="Figtree"/>
      <p:regular r:id="rId33"/>
      <p:bold r:id="rId34"/>
      <p:italic r:id="rId35"/>
      <p:boldItalic r:id="rId36"/>
    </p:embeddedFont>
    <p:embeddedFont>
      <p:font typeface="Hanken Grotesk Medium"/>
      <p:regular r:id="rId37"/>
      <p:bold r:id="rId38"/>
      <p:italic r:id="rId39"/>
      <p:boldItalic r:id="rId40"/>
    </p:embeddedFont>
    <p:embeddedFont>
      <p:font typeface="Figtree Black"/>
      <p:bold r:id="rId41"/>
      <p:boldItalic r:id="rId42"/>
    </p:embeddedFont>
    <p:embeddedFont>
      <p:font typeface="Figtree ExtraBold"/>
      <p:bold r:id="rId43"/>
      <p:boldItalic r:id="rId44"/>
    </p:embeddedFont>
    <p:embeddedFont>
      <p:font typeface="Hanken Grotesk"/>
      <p:regular r:id="rId45"/>
      <p:bold r:id="rId46"/>
      <p:italic r:id="rId47"/>
      <p:boldItalic r:id="rId48"/>
    </p:embeddedFont>
    <p:embeddedFont>
      <p:font typeface="Lato"/>
      <p:regular r:id="rId49"/>
      <p:bold r:id="rId50"/>
      <p:italic r:id="rId51"/>
      <p:boldItalic r:id="rId52"/>
    </p:embeddedFont>
    <p:embeddedFont>
      <p:font typeface="Tahoma"/>
      <p:regular r:id="rId53"/>
      <p:bold r:id="rId54"/>
    </p:embeddedFont>
    <p:embeddedFont>
      <p:font typeface="Figtree SemiBold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427DEC-F5A1-465E-8CD7-2093E11A53D8}">
  <a:tblStyle styleId="{73427DEC-F5A1-465E-8CD7-2093E11A53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ankenGroteskMedium-boldItalic.fntdata"/><Relationship Id="rId42" Type="http://schemas.openxmlformats.org/officeDocument/2006/relationships/font" Target="fonts/FigtreeBlack-boldItalic.fntdata"/><Relationship Id="rId41" Type="http://schemas.openxmlformats.org/officeDocument/2006/relationships/font" Target="fonts/FigtreeBlack-bold.fntdata"/><Relationship Id="rId44" Type="http://schemas.openxmlformats.org/officeDocument/2006/relationships/font" Target="fonts/FigtreeExtraBold-boldItalic.fntdata"/><Relationship Id="rId43" Type="http://schemas.openxmlformats.org/officeDocument/2006/relationships/font" Target="fonts/FigtreeExtraBold-bold.fntdata"/><Relationship Id="rId46" Type="http://schemas.openxmlformats.org/officeDocument/2006/relationships/font" Target="fonts/HankenGrotesk-bold.fntdata"/><Relationship Id="rId45" Type="http://schemas.openxmlformats.org/officeDocument/2006/relationships/font" Target="fonts/HankenGrotesk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HankenGrotesk-boldItalic.fntdata"/><Relationship Id="rId47" Type="http://schemas.openxmlformats.org/officeDocument/2006/relationships/font" Target="fonts/HankenGrotesk-italic.fntdata"/><Relationship Id="rId49" Type="http://schemas.openxmlformats.org/officeDocument/2006/relationships/font" Target="fonts/La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FigtreeMedium-italic.fntdata"/><Relationship Id="rId30" Type="http://schemas.openxmlformats.org/officeDocument/2006/relationships/font" Target="fonts/FigtreeMedium-bold.fntdata"/><Relationship Id="rId33" Type="http://schemas.openxmlformats.org/officeDocument/2006/relationships/font" Target="fonts/Figtree-regular.fntdata"/><Relationship Id="rId32" Type="http://schemas.openxmlformats.org/officeDocument/2006/relationships/font" Target="fonts/FigtreeMedium-boldItalic.fntdata"/><Relationship Id="rId35" Type="http://schemas.openxmlformats.org/officeDocument/2006/relationships/font" Target="fonts/Figtree-italic.fntdata"/><Relationship Id="rId34" Type="http://schemas.openxmlformats.org/officeDocument/2006/relationships/font" Target="fonts/Figtree-bold.fntdata"/><Relationship Id="rId37" Type="http://schemas.openxmlformats.org/officeDocument/2006/relationships/font" Target="fonts/HankenGroteskMedium-regular.fntdata"/><Relationship Id="rId36" Type="http://schemas.openxmlformats.org/officeDocument/2006/relationships/font" Target="fonts/Figtree-boldItalic.fntdata"/><Relationship Id="rId39" Type="http://schemas.openxmlformats.org/officeDocument/2006/relationships/font" Target="fonts/HankenGroteskMedium-italic.fntdata"/><Relationship Id="rId38" Type="http://schemas.openxmlformats.org/officeDocument/2006/relationships/font" Target="fonts/HankenGroteskMedium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font" Target="fonts/FigtreeMedium-regular.fntdata"/><Relationship Id="rId51" Type="http://schemas.openxmlformats.org/officeDocument/2006/relationships/font" Target="fonts/Lato-italic.fntdata"/><Relationship Id="rId50" Type="http://schemas.openxmlformats.org/officeDocument/2006/relationships/font" Target="fonts/Lato-bold.fntdata"/><Relationship Id="rId53" Type="http://schemas.openxmlformats.org/officeDocument/2006/relationships/font" Target="fonts/Tahoma-regular.fntdata"/><Relationship Id="rId52" Type="http://schemas.openxmlformats.org/officeDocument/2006/relationships/font" Target="fonts/Lato-boldItalic.fntdata"/><Relationship Id="rId11" Type="http://schemas.openxmlformats.org/officeDocument/2006/relationships/slide" Target="slides/slide5.xml"/><Relationship Id="rId55" Type="http://schemas.openxmlformats.org/officeDocument/2006/relationships/font" Target="fonts/FigtreeSemiBold-regular.fntdata"/><Relationship Id="rId10" Type="http://schemas.openxmlformats.org/officeDocument/2006/relationships/slide" Target="slides/slide4.xml"/><Relationship Id="rId54" Type="http://schemas.openxmlformats.org/officeDocument/2006/relationships/font" Target="fonts/Tahoma-bold.fntdata"/><Relationship Id="rId13" Type="http://schemas.openxmlformats.org/officeDocument/2006/relationships/slide" Target="slides/slide7.xml"/><Relationship Id="rId57" Type="http://schemas.openxmlformats.org/officeDocument/2006/relationships/font" Target="fonts/FigtreeSemiBold-italic.fntdata"/><Relationship Id="rId12" Type="http://schemas.openxmlformats.org/officeDocument/2006/relationships/slide" Target="slides/slide6.xml"/><Relationship Id="rId56" Type="http://schemas.openxmlformats.org/officeDocument/2006/relationships/font" Target="fonts/FigtreeSemiBold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FigtreeSemi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8ba6b1dd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d8ba6b1dd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d8ba6b1dd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d8ba6b1dd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d8b42e47f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d8b42e47f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d8b42e47f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g3d8b42e47f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d8b42e47f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d8b42e47f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d8b42e47f8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g3d8b42e47f8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8b42e47f8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1" name="Google Shape;381;g3d8b42e47f8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8b42e47f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g3d8b42e47f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8b42e47f8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d8b42e47f8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d8b42e47f8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3d8b42e47f8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d8b42e47f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d8b42e47f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8b42e47f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8b42e47f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d8b42e47f8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d8b42e47f8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d8b42e47f8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d8b42e47f8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d8b42e47f8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d8b42e47f8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d8b42e47f8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d8b42e47f8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346075" y="130450"/>
            <a:ext cx="4889100" cy="4889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10;p2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1087125" y="1670213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087125" y="2997488"/>
            <a:ext cx="58974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-941925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19" name="Google Shape;19;p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2" name="Google Shape;22;p3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78867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2" type="subTitle"/>
          </p:nvPr>
        </p:nvSpPr>
        <p:spPr>
          <a:xfrm>
            <a:off x="78867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3" type="subTitle"/>
          </p:nvPr>
        </p:nvSpPr>
        <p:spPr>
          <a:xfrm>
            <a:off x="3418500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4" type="subTitle"/>
          </p:nvPr>
        </p:nvSpPr>
        <p:spPr>
          <a:xfrm>
            <a:off x="3418500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" name="Google Shape;28;p3"/>
          <p:cNvSpPr txBox="1"/>
          <p:nvPr>
            <p:ph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" name="Google Shape;29;p3"/>
          <p:cNvSpPr txBox="1"/>
          <p:nvPr>
            <p:ph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" name="Google Shape;30;p3"/>
          <p:cNvSpPr txBox="1"/>
          <p:nvPr>
            <p:ph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6048325" y="3772552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13" type="subTitle"/>
          </p:nvPr>
        </p:nvSpPr>
        <p:spPr>
          <a:xfrm>
            <a:off x="6048325" y="21058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"/>
          <p:cNvSpPr txBox="1"/>
          <p:nvPr>
            <p:ph idx="14" type="title"/>
          </p:nvPr>
        </p:nvSpPr>
        <p:spPr>
          <a:xfrm>
            <a:off x="6136975" y="2977575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" name="Google Shape;34;p3"/>
          <p:cNvSpPr txBox="1"/>
          <p:nvPr>
            <p:ph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3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6" name="Google Shape;36;p3"/>
          <p:cNvSpPr txBox="1"/>
          <p:nvPr>
            <p:ph idx="17" type="subTitle"/>
          </p:nvPr>
        </p:nvSpPr>
        <p:spPr>
          <a:xfrm>
            <a:off x="78867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7" name="Google Shape;37;p3"/>
          <p:cNvSpPr txBox="1"/>
          <p:nvPr>
            <p:ph idx="18" type="subTitle"/>
          </p:nvPr>
        </p:nvSpPr>
        <p:spPr>
          <a:xfrm>
            <a:off x="3418500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8" name="Google Shape;38;p3"/>
          <p:cNvSpPr txBox="1"/>
          <p:nvPr>
            <p:ph idx="19" type="subTitle"/>
          </p:nvPr>
        </p:nvSpPr>
        <p:spPr>
          <a:xfrm>
            <a:off x="3418500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39" name="Google Shape;39;p3"/>
          <p:cNvSpPr txBox="1"/>
          <p:nvPr>
            <p:ph idx="20" type="subTitle"/>
          </p:nvPr>
        </p:nvSpPr>
        <p:spPr>
          <a:xfrm>
            <a:off x="6048325" y="3503023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40" name="Google Shape;40;p3"/>
          <p:cNvSpPr txBox="1"/>
          <p:nvPr>
            <p:ph idx="21" type="subTitle"/>
          </p:nvPr>
        </p:nvSpPr>
        <p:spPr>
          <a:xfrm>
            <a:off x="604832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8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643372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" name="Google Shape;43;p4"/>
          <p:cNvGrpSpPr/>
          <p:nvPr/>
        </p:nvGrpSpPr>
        <p:grpSpPr>
          <a:xfrm>
            <a:off x="713225" y="-62550"/>
            <a:ext cx="7717800" cy="5210100"/>
            <a:chOff x="713225" y="-62550"/>
            <a:chExt cx="7717800" cy="5210100"/>
          </a:xfrm>
        </p:grpSpPr>
        <p:sp>
          <p:nvSpPr>
            <p:cNvPr id="44" name="Google Shape;44;p4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5" name="Google Shape;45;p4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6" name="Google Shape;46;p4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7" name="Google Shape;47;p4"/>
          <p:cNvSpPr txBox="1"/>
          <p:nvPr>
            <p:ph type="title"/>
          </p:nvPr>
        </p:nvSpPr>
        <p:spPr>
          <a:xfrm>
            <a:off x="1216475" y="1977150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8" name="Google Shape;48;p4"/>
          <p:cNvSpPr txBox="1"/>
          <p:nvPr>
            <p:ph idx="2" type="title"/>
          </p:nvPr>
        </p:nvSpPr>
        <p:spPr>
          <a:xfrm>
            <a:off x="720000" y="533550"/>
            <a:ext cx="824400" cy="705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33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9" name="Google Shape;49;p4"/>
          <p:cNvSpPr txBox="1"/>
          <p:nvPr>
            <p:ph idx="1" type="subTitle"/>
          </p:nvPr>
        </p:nvSpPr>
        <p:spPr>
          <a:xfrm>
            <a:off x="1216475" y="2730750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5"/>
          <p:cNvGrpSpPr/>
          <p:nvPr/>
        </p:nvGrpSpPr>
        <p:grpSpPr>
          <a:xfrm>
            <a:off x="-725" y="1466925"/>
            <a:ext cx="939900" cy="2326875"/>
            <a:chOff x="-725" y="1466925"/>
            <a:chExt cx="939900" cy="2326875"/>
          </a:xfrm>
        </p:grpSpPr>
        <p:cxnSp>
          <p:nvCxnSpPr>
            <p:cNvPr id="53" name="Google Shape;53;p5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4" name="Google Shape;54;p5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5" name="Google Shape;55;p5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" name="Google Shape;56;p5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57" name="Google Shape;57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" name="Google Shape;58;p5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5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0" name="Google Shape;60;p5"/>
          <p:cNvSpPr txBox="1"/>
          <p:nvPr>
            <p:ph type="title"/>
          </p:nvPr>
        </p:nvSpPr>
        <p:spPr>
          <a:xfrm>
            <a:off x="713225" y="445025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5"/>
          <p:cNvSpPr txBox="1"/>
          <p:nvPr>
            <p:ph idx="1" type="subTitle"/>
          </p:nvPr>
        </p:nvSpPr>
        <p:spPr>
          <a:xfrm>
            <a:off x="1731050" y="1640570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subTitle"/>
          </p:nvPr>
        </p:nvSpPr>
        <p:spPr>
          <a:xfrm>
            <a:off x="1731050" y="280036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3" type="subTitle"/>
          </p:nvPr>
        </p:nvSpPr>
        <p:spPr>
          <a:xfrm>
            <a:off x="1731050" y="395745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"/>
          <p:cNvSpPr txBox="1"/>
          <p:nvPr>
            <p:ph idx="4" type="subTitle"/>
          </p:nvPr>
        </p:nvSpPr>
        <p:spPr>
          <a:xfrm>
            <a:off x="1731050" y="1241275"/>
            <a:ext cx="66132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5" type="subTitle"/>
          </p:nvPr>
        </p:nvSpPr>
        <p:spPr>
          <a:xfrm>
            <a:off x="1731050" y="2395400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66" name="Google Shape;66;p5"/>
          <p:cNvSpPr txBox="1"/>
          <p:nvPr>
            <p:ph idx="6" type="subTitle"/>
          </p:nvPr>
        </p:nvSpPr>
        <p:spPr>
          <a:xfrm>
            <a:off x="1731050" y="3546826"/>
            <a:ext cx="66132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"/>
          <p:cNvSpPr/>
          <p:nvPr/>
        </p:nvSpPr>
        <p:spPr>
          <a:xfrm>
            <a:off x="-2125550" y="301862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" name="Google Shape;69;p6"/>
          <p:cNvGrpSpPr/>
          <p:nvPr/>
        </p:nvGrpSpPr>
        <p:grpSpPr>
          <a:xfrm>
            <a:off x="727425" y="-29250"/>
            <a:ext cx="8550550" cy="4637825"/>
            <a:chOff x="727425" y="-29250"/>
            <a:chExt cx="8550550" cy="4637825"/>
          </a:xfrm>
        </p:grpSpPr>
        <p:sp>
          <p:nvSpPr>
            <p:cNvPr id="70" name="Google Shape;70;p6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1" name="Google Shape;71;p6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2" name="Google Shape;72;p6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3" name="Google Shape;73;p6"/>
          <p:cNvSpPr txBox="1"/>
          <p:nvPr>
            <p:ph type="title"/>
          </p:nvPr>
        </p:nvSpPr>
        <p:spPr>
          <a:xfrm>
            <a:off x="2212125" y="2464650"/>
            <a:ext cx="59139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4" name="Google Shape;74;p6"/>
          <p:cNvSpPr txBox="1"/>
          <p:nvPr>
            <p:ph idx="1" type="subTitle"/>
          </p:nvPr>
        </p:nvSpPr>
        <p:spPr>
          <a:xfrm>
            <a:off x="2212125" y="838350"/>
            <a:ext cx="5913900" cy="162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25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-3422975" y="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" name="Google Shape;77;p7"/>
          <p:cNvGrpSpPr/>
          <p:nvPr/>
        </p:nvGrpSpPr>
        <p:grpSpPr>
          <a:xfrm>
            <a:off x="727425" y="-382650"/>
            <a:ext cx="7703400" cy="5907300"/>
            <a:chOff x="727425" y="-382650"/>
            <a:chExt cx="7703400" cy="5907300"/>
          </a:xfrm>
        </p:grpSpPr>
        <p:sp>
          <p:nvSpPr>
            <p:cNvPr id="78" name="Google Shape;78;p7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" name="Google Shape;79;p7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" name="Google Shape;80;p7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1" name="Google Shape;81;p7"/>
          <p:cNvSpPr txBox="1"/>
          <p:nvPr>
            <p:ph hasCustomPrompt="1" type="title"/>
          </p:nvPr>
        </p:nvSpPr>
        <p:spPr>
          <a:xfrm>
            <a:off x="2603050" y="1856113"/>
            <a:ext cx="5827800" cy="102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4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82" name="Google Shape;82;p7"/>
          <p:cNvSpPr txBox="1"/>
          <p:nvPr>
            <p:ph idx="1" type="subTitle"/>
          </p:nvPr>
        </p:nvSpPr>
        <p:spPr>
          <a:xfrm>
            <a:off x="2603050" y="2880588"/>
            <a:ext cx="5827800" cy="4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_1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/>
          <p:nvPr/>
        </p:nvSpPr>
        <p:spPr>
          <a:xfrm>
            <a:off x="6309175" y="2486975"/>
            <a:ext cx="4243200" cy="42432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-69525" y="539500"/>
            <a:ext cx="9455500" cy="4069200"/>
            <a:chOff x="-69525" y="539500"/>
            <a:chExt cx="9455500" cy="4069200"/>
          </a:xfrm>
        </p:grpSpPr>
        <p:grpSp>
          <p:nvGrpSpPr>
            <p:cNvPr id="86" name="Google Shape;86;p8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87" name="Google Shape;87;p8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8" name="Google Shape;88;p8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89" name="Google Shape;89;p8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8"/>
          <p:cNvSpPr txBox="1"/>
          <p:nvPr>
            <p:ph type="title"/>
          </p:nvPr>
        </p:nvSpPr>
        <p:spPr>
          <a:xfrm>
            <a:off x="707575" y="539500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8"/>
          <p:cNvSpPr txBox="1"/>
          <p:nvPr>
            <p:ph idx="1" type="subTitle"/>
          </p:nvPr>
        </p:nvSpPr>
        <p:spPr>
          <a:xfrm>
            <a:off x="707575" y="1308392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8"/>
          <p:cNvSpPr txBox="1"/>
          <p:nvPr>
            <p:ph idx="2" type="title"/>
          </p:nvPr>
        </p:nvSpPr>
        <p:spPr>
          <a:xfrm>
            <a:off x="707575" y="1901349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8"/>
          <p:cNvSpPr txBox="1"/>
          <p:nvPr>
            <p:ph idx="3" type="subTitle"/>
          </p:nvPr>
        </p:nvSpPr>
        <p:spPr>
          <a:xfrm>
            <a:off x="707575" y="2670245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8"/>
          <p:cNvSpPr txBox="1"/>
          <p:nvPr>
            <p:ph idx="4" type="title"/>
          </p:nvPr>
        </p:nvSpPr>
        <p:spPr>
          <a:xfrm>
            <a:off x="707575" y="3263198"/>
            <a:ext cx="4051200" cy="768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8"/>
          <p:cNvSpPr txBox="1"/>
          <p:nvPr>
            <p:ph idx="5" type="subTitle"/>
          </p:nvPr>
        </p:nvSpPr>
        <p:spPr>
          <a:xfrm>
            <a:off x="707575" y="4032098"/>
            <a:ext cx="40512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9"/>
          <p:cNvGrpSpPr/>
          <p:nvPr/>
        </p:nvGrpSpPr>
        <p:grpSpPr>
          <a:xfrm>
            <a:off x="-19050" y="232800"/>
            <a:ext cx="8930250" cy="5027400"/>
            <a:chOff x="-19050" y="232800"/>
            <a:chExt cx="8930250" cy="5027400"/>
          </a:xfrm>
        </p:grpSpPr>
        <p:sp>
          <p:nvSpPr>
            <p:cNvPr id="99" name="Google Shape;99;p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" name="Google Shape;100;p9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" name="Google Shape;101;p9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2" name="Google Shape;102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3" name="Google Shape;103;p9"/>
          <p:cNvSpPr txBox="1"/>
          <p:nvPr>
            <p:ph idx="1" type="body"/>
          </p:nvPr>
        </p:nvSpPr>
        <p:spPr>
          <a:xfrm>
            <a:off x="720000" y="1215750"/>
            <a:ext cx="7704000" cy="32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0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10"/>
          <p:cNvGrpSpPr/>
          <p:nvPr/>
        </p:nvGrpSpPr>
        <p:grpSpPr>
          <a:xfrm>
            <a:off x="-77100" y="232800"/>
            <a:ext cx="8988300" cy="4964300"/>
            <a:chOff x="-77100" y="232800"/>
            <a:chExt cx="8988300" cy="4964300"/>
          </a:xfrm>
        </p:grpSpPr>
        <p:sp>
          <p:nvSpPr>
            <p:cNvPr id="107" name="Google Shape;107;p1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8" name="Google Shape;108;p10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10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0" name="Google Shape;110;p1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10"/>
          <p:cNvSpPr txBox="1"/>
          <p:nvPr>
            <p:ph idx="1" type="subTitle"/>
          </p:nvPr>
        </p:nvSpPr>
        <p:spPr>
          <a:xfrm>
            <a:off x="4651268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12" name="Google Shape;112;p10"/>
          <p:cNvSpPr txBox="1"/>
          <p:nvPr>
            <p:ph idx="2" type="subTitle"/>
          </p:nvPr>
        </p:nvSpPr>
        <p:spPr>
          <a:xfrm>
            <a:off x="720000" y="1736553"/>
            <a:ext cx="3772800" cy="27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800"/>
            </a:lvl9pPr>
          </a:lstStyle>
          <a:p/>
        </p:txBody>
      </p:sp>
      <p:sp>
        <p:nvSpPr>
          <p:cNvPr id="113" name="Google Shape;113;p10"/>
          <p:cNvSpPr txBox="1"/>
          <p:nvPr>
            <p:ph idx="3" type="subTitle"/>
          </p:nvPr>
        </p:nvSpPr>
        <p:spPr>
          <a:xfrm>
            <a:off x="720000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14" name="Google Shape;114;p10"/>
          <p:cNvSpPr txBox="1"/>
          <p:nvPr>
            <p:ph idx="4" type="subTitle"/>
          </p:nvPr>
        </p:nvSpPr>
        <p:spPr>
          <a:xfrm>
            <a:off x="4651268" y="1451250"/>
            <a:ext cx="37728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1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11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118" name="Google Shape;118;p11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119" name="Google Shape;119;p11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20" name="Google Shape;120;p11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21" name="Google Shape;121;p11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22" name="Google Shape;122;p1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1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p12"/>
          <p:cNvGrpSpPr/>
          <p:nvPr/>
        </p:nvGrpSpPr>
        <p:grpSpPr>
          <a:xfrm>
            <a:off x="-19050" y="-16000"/>
            <a:ext cx="8930250" cy="4933300"/>
            <a:chOff x="-19050" y="-16000"/>
            <a:chExt cx="8930250" cy="4933300"/>
          </a:xfrm>
        </p:grpSpPr>
        <p:sp>
          <p:nvSpPr>
            <p:cNvPr id="127" name="Google Shape;127;p1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" name="Google Shape;128;p12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12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0" name="Google Shape;130;p12"/>
          <p:cNvSpPr txBox="1"/>
          <p:nvPr>
            <p:ph type="title"/>
          </p:nvPr>
        </p:nvSpPr>
        <p:spPr>
          <a:xfrm>
            <a:off x="720000" y="448050"/>
            <a:ext cx="771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" name="Google Shape;131;p12"/>
          <p:cNvSpPr txBox="1"/>
          <p:nvPr>
            <p:ph idx="1" type="subTitle"/>
          </p:nvPr>
        </p:nvSpPr>
        <p:spPr>
          <a:xfrm>
            <a:off x="1733625" y="1361025"/>
            <a:ext cx="6580200" cy="2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/>
          <p:nvPr/>
        </p:nvSpPr>
        <p:spPr>
          <a:xfrm>
            <a:off x="2007375" y="2776900"/>
            <a:ext cx="5143500" cy="5143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" name="Google Shape;134;p13"/>
          <p:cNvGrpSpPr/>
          <p:nvPr/>
        </p:nvGrpSpPr>
        <p:grpSpPr>
          <a:xfrm>
            <a:off x="-25" y="533550"/>
            <a:ext cx="9270975" cy="4075025"/>
            <a:chOff x="-25" y="533550"/>
            <a:chExt cx="9270975" cy="4075025"/>
          </a:xfrm>
        </p:grpSpPr>
        <p:sp>
          <p:nvSpPr>
            <p:cNvPr id="135" name="Google Shape;135;p13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800"/>
                <a:buFont typeface="Arial"/>
                <a:buNone/>
              </a:pPr>
              <a:r>
                <a:t/>
              </a:r>
              <a:endParaRPr b="0" i="0" sz="3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136" name="Google Shape;136;p13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7" name="Google Shape;137;p13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8" name="Google Shape;138;p13"/>
          <p:cNvSpPr txBox="1"/>
          <p:nvPr>
            <p:ph type="title"/>
          </p:nvPr>
        </p:nvSpPr>
        <p:spPr>
          <a:xfrm>
            <a:off x="1644450" y="1733400"/>
            <a:ext cx="5855100" cy="76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/>
          <p:nvPr/>
        </p:nvSpPr>
        <p:spPr>
          <a:xfrm>
            <a:off x="-2613450" y="-126025"/>
            <a:ext cx="5402100" cy="5402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14"/>
          <p:cNvGrpSpPr/>
          <p:nvPr/>
        </p:nvGrpSpPr>
        <p:grpSpPr>
          <a:xfrm>
            <a:off x="727425" y="-49275"/>
            <a:ext cx="7703400" cy="5243325"/>
            <a:chOff x="727425" y="-49275"/>
            <a:chExt cx="7703400" cy="5243325"/>
          </a:xfrm>
        </p:grpSpPr>
        <p:sp>
          <p:nvSpPr>
            <p:cNvPr id="142" name="Google Shape;142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3" name="Google Shape;143;p14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14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5" name="Google Shape;145;p14"/>
          <p:cNvSpPr txBox="1"/>
          <p:nvPr>
            <p:ph type="title"/>
          </p:nvPr>
        </p:nvSpPr>
        <p:spPr>
          <a:xfrm>
            <a:off x="3496850" y="1021763"/>
            <a:ext cx="4294800" cy="209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6" name="Google Shape;146;p14"/>
          <p:cNvSpPr txBox="1"/>
          <p:nvPr>
            <p:ph idx="1" type="subTitle"/>
          </p:nvPr>
        </p:nvSpPr>
        <p:spPr>
          <a:xfrm>
            <a:off x="3496850" y="3117038"/>
            <a:ext cx="4294800" cy="10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720000" y="4045175"/>
            <a:ext cx="7710900" cy="56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9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35528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3" name="Google Shape;153;p17"/>
          <p:cNvGrpSpPr/>
          <p:nvPr/>
        </p:nvGrpSpPr>
        <p:grpSpPr>
          <a:xfrm>
            <a:off x="-50475" y="232800"/>
            <a:ext cx="8961675" cy="4684500"/>
            <a:chOff x="-50475" y="232800"/>
            <a:chExt cx="8961675" cy="4684500"/>
          </a:xfrm>
        </p:grpSpPr>
        <p:sp>
          <p:nvSpPr>
            <p:cNvPr id="154" name="Google Shape;154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" name="Google Shape;155;p17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6" name="Google Shape;156;p17"/>
          <p:cNvSpPr txBox="1"/>
          <p:nvPr>
            <p:ph type="title"/>
          </p:nvPr>
        </p:nvSpPr>
        <p:spPr>
          <a:xfrm>
            <a:off x="720000" y="1203900"/>
            <a:ext cx="31983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7" name="Google Shape;157;p17"/>
          <p:cNvSpPr txBox="1"/>
          <p:nvPr>
            <p:ph idx="1" type="subTitle"/>
          </p:nvPr>
        </p:nvSpPr>
        <p:spPr>
          <a:xfrm>
            <a:off x="720000" y="2706062"/>
            <a:ext cx="3198300" cy="14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7"/>
          <p:cNvSpPr/>
          <p:nvPr>
            <p:ph idx="2" type="pic"/>
          </p:nvPr>
        </p:nvSpPr>
        <p:spPr>
          <a:xfrm>
            <a:off x="4494050" y="0"/>
            <a:ext cx="4650000" cy="5143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-923000" y="-945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1" name="Google Shape;161;p18"/>
          <p:cNvGrpSpPr/>
          <p:nvPr/>
        </p:nvGrpSpPr>
        <p:grpSpPr>
          <a:xfrm>
            <a:off x="-19050" y="232800"/>
            <a:ext cx="9176275" cy="4684500"/>
            <a:chOff x="-19050" y="232800"/>
            <a:chExt cx="9176275" cy="4684500"/>
          </a:xfrm>
        </p:grpSpPr>
        <p:sp>
          <p:nvSpPr>
            <p:cNvPr id="162" name="Google Shape;162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" name="Google Shape;163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18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5" name="Google Shape;165;p18"/>
          <p:cNvSpPr txBox="1"/>
          <p:nvPr>
            <p:ph type="title"/>
          </p:nvPr>
        </p:nvSpPr>
        <p:spPr>
          <a:xfrm>
            <a:off x="878875" y="1533125"/>
            <a:ext cx="3024900" cy="64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6" name="Google Shape;166;p18"/>
          <p:cNvSpPr txBox="1"/>
          <p:nvPr>
            <p:ph idx="1" type="subTitle"/>
          </p:nvPr>
        </p:nvSpPr>
        <p:spPr>
          <a:xfrm>
            <a:off x="878875" y="2175300"/>
            <a:ext cx="3024900" cy="12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9" name="Google Shape;169;p19"/>
          <p:cNvGrpSpPr/>
          <p:nvPr/>
        </p:nvGrpSpPr>
        <p:grpSpPr>
          <a:xfrm>
            <a:off x="232200" y="232800"/>
            <a:ext cx="8937900" cy="4932875"/>
            <a:chOff x="232200" y="232800"/>
            <a:chExt cx="8937900" cy="4932875"/>
          </a:xfrm>
        </p:grpSpPr>
        <p:sp>
          <p:nvSpPr>
            <p:cNvPr id="170" name="Google Shape;170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1" name="Google Shape;171;p19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19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3" name="Google Shape;173;p19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4" name="Google Shape;174;p19"/>
          <p:cNvSpPr txBox="1"/>
          <p:nvPr>
            <p:ph idx="1" type="subTitle"/>
          </p:nvPr>
        </p:nvSpPr>
        <p:spPr>
          <a:xfrm>
            <a:off x="713250" y="1017725"/>
            <a:ext cx="7717500" cy="8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/>
          <p:nvPr/>
        </p:nvSpPr>
        <p:spPr>
          <a:xfrm>
            <a:off x="7069475" y="3282725"/>
            <a:ext cx="3701700" cy="37017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>
            <a:off x="-19050" y="232800"/>
            <a:ext cx="8930250" cy="5117250"/>
            <a:chOff x="-19050" y="232800"/>
            <a:chExt cx="8930250" cy="5117250"/>
          </a:xfrm>
        </p:grpSpPr>
        <p:sp>
          <p:nvSpPr>
            <p:cNvPr id="178" name="Google Shape;178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9" name="Google Shape;179;p20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20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1" name="Google Shape;181;p20"/>
          <p:cNvSpPr txBox="1"/>
          <p:nvPr>
            <p:ph type="title"/>
          </p:nvPr>
        </p:nvSpPr>
        <p:spPr>
          <a:xfrm>
            <a:off x="72232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82" name="Google Shape;182;p20"/>
          <p:cNvSpPr txBox="1"/>
          <p:nvPr>
            <p:ph idx="1" type="subTitle"/>
          </p:nvPr>
        </p:nvSpPr>
        <p:spPr>
          <a:xfrm>
            <a:off x="713175" y="1421525"/>
            <a:ext cx="5945400" cy="26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21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9" name="Google Shape;18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0" name="Google Shape;190;p21"/>
          <p:cNvSpPr txBox="1"/>
          <p:nvPr>
            <p:ph idx="1" type="subTitle"/>
          </p:nvPr>
        </p:nvSpPr>
        <p:spPr>
          <a:xfrm>
            <a:off x="977801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21"/>
          <p:cNvSpPr txBox="1"/>
          <p:nvPr>
            <p:ph idx="2" type="subTitle"/>
          </p:nvPr>
        </p:nvSpPr>
        <p:spPr>
          <a:xfrm>
            <a:off x="345074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21"/>
          <p:cNvSpPr txBox="1"/>
          <p:nvPr>
            <p:ph idx="3" type="subTitle"/>
          </p:nvPr>
        </p:nvSpPr>
        <p:spPr>
          <a:xfrm>
            <a:off x="5923698" y="2514225"/>
            <a:ext cx="22425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21"/>
          <p:cNvSpPr txBox="1"/>
          <p:nvPr>
            <p:ph idx="4" type="subTitle"/>
          </p:nvPr>
        </p:nvSpPr>
        <p:spPr>
          <a:xfrm>
            <a:off x="977803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4" name="Google Shape;194;p21"/>
          <p:cNvSpPr txBox="1"/>
          <p:nvPr>
            <p:ph idx="5" type="subTitle"/>
          </p:nvPr>
        </p:nvSpPr>
        <p:spPr>
          <a:xfrm>
            <a:off x="345074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195" name="Google Shape;195;p21"/>
          <p:cNvSpPr txBox="1"/>
          <p:nvPr>
            <p:ph idx="6" type="subTitle"/>
          </p:nvPr>
        </p:nvSpPr>
        <p:spPr>
          <a:xfrm>
            <a:off x="5923697" y="2285625"/>
            <a:ext cx="2242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6_1_1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22"/>
          <p:cNvGrpSpPr/>
          <p:nvPr/>
        </p:nvGrpSpPr>
        <p:grpSpPr>
          <a:xfrm>
            <a:off x="232200" y="-60100"/>
            <a:ext cx="9070200" cy="4977400"/>
            <a:chOff x="232200" y="-60100"/>
            <a:chExt cx="9070200" cy="49774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22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02" name="Google Shape;202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3" name="Google Shape;203;p22"/>
          <p:cNvSpPr txBox="1"/>
          <p:nvPr>
            <p:ph idx="1" type="subTitle"/>
          </p:nvPr>
        </p:nvSpPr>
        <p:spPr>
          <a:xfrm>
            <a:off x="2032350" y="1565625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2"/>
          <p:cNvSpPr txBox="1"/>
          <p:nvPr>
            <p:ph idx="2" type="subTitle"/>
          </p:nvPr>
        </p:nvSpPr>
        <p:spPr>
          <a:xfrm>
            <a:off x="2641957" y="2723563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2"/>
          <p:cNvSpPr txBox="1"/>
          <p:nvPr>
            <p:ph idx="3" type="subTitle"/>
          </p:nvPr>
        </p:nvSpPr>
        <p:spPr>
          <a:xfrm>
            <a:off x="3251557" y="3881500"/>
            <a:ext cx="48768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4" type="subTitle"/>
          </p:nvPr>
        </p:nvSpPr>
        <p:spPr>
          <a:xfrm>
            <a:off x="2032350" y="12536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7" name="Google Shape;207;p22"/>
          <p:cNvSpPr txBox="1"/>
          <p:nvPr>
            <p:ph idx="5" type="subTitle"/>
          </p:nvPr>
        </p:nvSpPr>
        <p:spPr>
          <a:xfrm>
            <a:off x="2641950" y="241227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08" name="Google Shape;208;p22"/>
          <p:cNvSpPr txBox="1"/>
          <p:nvPr>
            <p:ph idx="6" type="subTitle"/>
          </p:nvPr>
        </p:nvSpPr>
        <p:spPr>
          <a:xfrm>
            <a:off x="3251550" y="3570925"/>
            <a:ext cx="48768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6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3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1" name="Google Shape;211;p23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12" name="Google Shape;212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3" name="Google Shape;213;p2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4" name="Google Shape;214;p2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15" name="Google Shape;21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" name="Google Shape;216;p23"/>
          <p:cNvSpPr txBox="1"/>
          <p:nvPr>
            <p:ph idx="1" type="subTitle"/>
          </p:nvPr>
        </p:nvSpPr>
        <p:spPr>
          <a:xfrm>
            <a:off x="1762571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3"/>
          <p:cNvSpPr txBox="1"/>
          <p:nvPr>
            <p:ph idx="2" type="subTitle"/>
          </p:nvPr>
        </p:nvSpPr>
        <p:spPr>
          <a:xfrm>
            <a:off x="5132667" y="1752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3"/>
          <p:cNvSpPr txBox="1"/>
          <p:nvPr>
            <p:ph idx="3" type="subTitle"/>
          </p:nvPr>
        </p:nvSpPr>
        <p:spPr>
          <a:xfrm>
            <a:off x="1762571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3"/>
          <p:cNvSpPr txBox="1"/>
          <p:nvPr>
            <p:ph idx="4" type="subTitle"/>
          </p:nvPr>
        </p:nvSpPr>
        <p:spPr>
          <a:xfrm>
            <a:off x="5132667" y="3336725"/>
            <a:ext cx="26874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3"/>
          <p:cNvSpPr txBox="1"/>
          <p:nvPr>
            <p:ph idx="5" type="subTitle"/>
          </p:nvPr>
        </p:nvSpPr>
        <p:spPr>
          <a:xfrm>
            <a:off x="1762571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6" type="subTitle"/>
          </p:nvPr>
        </p:nvSpPr>
        <p:spPr>
          <a:xfrm>
            <a:off x="5132667" y="1524200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2" name="Google Shape;222;p23"/>
          <p:cNvSpPr txBox="1"/>
          <p:nvPr>
            <p:ph idx="7" type="subTitle"/>
          </p:nvPr>
        </p:nvSpPr>
        <p:spPr>
          <a:xfrm>
            <a:off x="1762571" y="309183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23" name="Google Shape;223;p23"/>
          <p:cNvSpPr txBox="1"/>
          <p:nvPr>
            <p:ph idx="8" type="subTitle"/>
          </p:nvPr>
        </p:nvSpPr>
        <p:spPr>
          <a:xfrm>
            <a:off x="5132667" y="3091838"/>
            <a:ext cx="26874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24"/>
          <p:cNvGrpSpPr/>
          <p:nvPr/>
        </p:nvGrpSpPr>
        <p:grpSpPr>
          <a:xfrm>
            <a:off x="232200" y="232800"/>
            <a:ext cx="8988300" cy="5000100"/>
            <a:chOff x="232200" y="232800"/>
            <a:chExt cx="8988300" cy="5000100"/>
          </a:xfrm>
        </p:grpSpPr>
        <p:sp>
          <p:nvSpPr>
            <p:cNvPr id="227" name="Google Shape;227;p2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8" name="Google Shape;228;p24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9" name="Google Shape;229;p24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30" name="Google Shape;230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1" name="Google Shape;231;p24"/>
          <p:cNvSpPr txBox="1"/>
          <p:nvPr>
            <p:ph idx="1" type="subTitle"/>
          </p:nvPr>
        </p:nvSpPr>
        <p:spPr>
          <a:xfrm>
            <a:off x="874134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24"/>
          <p:cNvSpPr txBox="1"/>
          <p:nvPr>
            <p:ph idx="2" type="subTitle"/>
          </p:nvPr>
        </p:nvSpPr>
        <p:spPr>
          <a:xfrm>
            <a:off x="3319800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24"/>
          <p:cNvSpPr txBox="1"/>
          <p:nvPr>
            <p:ph idx="3" type="subTitle"/>
          </p:nvPr>
        </p:nvSpPr>
        <p:spPr>
          <a:xfrm>
            <a:off x="874134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4"/>
          <p:cNvSpPr txBox="1"/>
          <p:nvPr>
            <p:ph idx="4" type="subTitle"/>
          </p:nvPr>
        </p:nvSpPr>
        <p:spPr>
          <a:xfrm>
            <a:off x="3319800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24"/>
          <p:cNvSpPr txBox="1"/>
          <p:nvPr>
            <p:ph idx="5" type="subTitle"/>
          </p:nvPr>
        </p:nvSpPr>
        <p:spPr>
          <a:xfrm>
            <a:off x="5765466" y="2145979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4"/>
          <p:cNvSpPr txBox="1"/>
          <p:nvPr>
            <p:ph idx="6" type="subTitle"/>
          </p:nvPr>
        </p:nvSpPr>
        <p:spPr>
          <a:xfrm>
            <a:off x="5765466" y="3635775"/>
            <a:ext cx="2199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7" type="subTitle"/>
          </p:nvPr>
        </p:nvSpPr>
        <p:spPr>
          <a:xfrm>
            <a:off x="872334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38" name="Google Shape;238;p24"/>
          <p:cNvSpPr txBox="1"/>
          <p:nvPr>
            <p:ph idx="8" type="subTitle"/>
          </p:nvPr>
        </p:nvSpPr>
        <p:spPr>
          <a:xfrm>
            <a:off x="3318000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39" name="Google Shape;239;p24"/>
          <p:cNvSpPr txBox="1"/>
          <p:nvPr>
            <p:ph idx="9" type="subTitle"/>
          </p:nvPr>
        </p:nvSpPr>
        <p:spPr>
          <a:xfrm>
            <a:off x="5763666" y="1769325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40" name="Google Shape;240;p24"/>
          <p:cNvSpPr txBox="1"/>
          <p:nvPr>
            <p:ph idx="13" type="subTitle"/>
          </p:nvPr>
        </p:nvSpPr>
        <p:spPr>
          <a:xfrm>
            <a:off x="872334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41" name="Google Shape;241;p24"/>
          <p:cNvSpPr txBox="1"/>
          <p:nvPr>
            <p:ph idx="14" type="subTitle"/>
          </p:nvPr>
        </p:nvSpPr>
        <p:spPr>
          <a:xfrm>
            <a:off x="3318000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242" name="Google Shape;242;p24"/>
          <p:cNvSpPr txBox="1"/>
          <p:nvPr>
            <p:ph idx="15" type="subTitle"/>
          </p:nvPr>
        </p:nvSpPr>
        <p:spPr>
          <a:xfrm>
            <a:off x="5763666" y="3258926"/>
            <a:ext cx="2203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19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1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8240650" y="-9265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19050" y="232800"/>
            <a:ext cx="9189150" cy="46845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49" name="Google Shape;249;p25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9243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2" name="Google Shape;252;p26"/>
          <p:cNvGrpSpPr/>
          <p:nvPr/>
        </p:nvGrpSpPr>
        <p:grpSpPr>
          <a:xfrm>
            <a:off x="232200" y="232800"/>
            <a:ext cx="8988300" cy="4964300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56" name="Google Shape;256;p26"/>
          <p:cNvSpPr txBox="1"/>
          <p:nvPr>
            <p:ph type="title"/>
          </p:nvPr>
        </p:nvSpPr>
        <p:spPr>
          <a:xfrm>
            <a:off x="722376" y="445025"/>
            <a:ext cx="7708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6677100" y="-9050"/>
            <a:ext cx="5161500" cy="51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9" name="Google Shape;259;p27"/>
          <p:cNvGrpSpPr/>
          <p:nvPr/>
        </p:nvGrpSpPr>
        <p:grpSpPr>
          <a:xfrm>
            <a:off x="713223" y="-79050"/>
            <a:ext cx="8791100" cy="4687625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3" name="Google Shape;263;p27"/>
          <p:cNvSpPr txBox="1"/>
          <p:nvPr>
            <p:ph type="title"/>
          </p:nvPr>
        </p:nvSpPr>
        <p:spPr>
          <a:xfrm>
            <a:off x="1094263" y="778325"/>
            <a:ext cx="44481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5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4" name="Google Shape;264;p27"/>
          <p:cNvSpPr txBox="1"/>
          <p:nvPr>
            <p:ph idx="1" type="subTitle"/>
          </p:nvPr>
        </p:nvSpPr>
        <p:spPr>
          <a:xfrm>
            <a:off x="1094225" y="1651512"/>
            <a:ext cx="44481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27"/>
          <p:cNvSpPr txBox="1"/>
          <p:nvPr/>
        </p:nvSpPr>
        <p:spPr>
          <a:xfrm>
            <a:off x="1094225" y="3383825"/>
            <a:ext cx="57972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/>
              </a:rPr>
              <a:t>Slidesgo</a:t>
            </a:r>
            <a:r>
              <a:rPr b="1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b="0" i="0" lang="en" sz="12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/>
              </a:rPr>
              <a:t>Freepik</a:t>
            </a:r>
            <a:r>
              <a:rPr b="1" i="0" lang="en" sz="1200" u="sng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7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28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8"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b="0" i="0" sz="28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b="0" i="0" sz="3000" u="none" cap="none" strike="noStrik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 b="0" i="0" sz="14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0"/>
          <p:cNvSpPr txBox="1"/>
          <p:nvPr>
            <p:ph type="ctrTitle"/>
          </p:nvPr>
        </p:nvSpPr>
        <p:spPr>
          <a:xfrm>
            <a:off x="1140050" y="2451650"/>
            <a:ext cx="73425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1600">
                <a:solidFill>
                  <a:srgbClr val="000000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Based on : On Pairing of Bipolar RRAM Memory With NPN Selector Based on Set/Reset Array Power Considerations</a:t>
            </a:r>
            <a:r>
              <a:rPr lang="en" sz="1600">
                <a:solidFill>
                  <a:srgbClr val="000000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 </a:t>
            </a:r>
            <a:endParaRPr sz="1600">
              <a:solidFill>
                <a:srgbClr val="000000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sp>
        <p:nvSpPr>
          <p:cNvPr id="284" name="Google Shape;284;p30"/>
          <p:cNvSpPr txBox="1"/>
          <p:nvPr>
            <p:ph idx="1" type="subTitle"/>
          </p:nvPr>
        </p:nvSpPr>
        <p:spPr>
          <a:xfrm>
            <a:off x="4149000" y="3664450"/>
            <a:ext cx="4095000" cy="8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-"/>
            </a:pPr>
            <a:r>
              <a:rPr lang="en">
                <a:solidFill>
                  <a:srgbClr val="000000"/>
                </a:solidFill>
              </a:rPr>
              <a:t>Kalaparthi Vikas</a:t>
            </a:r>
            <a:r>
              <a:rPr lang="en">
                <a:solidFill>
                  <a:srgbClr val="000000"/>
                </a:solidFill>
              </a:rPr>
              <a:t> (25210064)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000000"/>
                </a:solidFill>
              </a:rPr>
              <a:t>Prem Singh          (25210098)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000000"/>
                </a:solidFill>
              </a:rPr>
              <a:t>Dheekshitha        (22110176)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5" name="Google Shape;285;p30"/>
          <p:cNvSpPr txBox="1"/>
          <p:nvPr/>
        </p:nvSpPr>
        <p:spPr>
          <a:xfrm>
            <a:off x="1087125" y="734350"/>
            <a:ext cx="62682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EE658 : Memory Device Technologies and Applications</a:t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Course Instructor : Prof. Sandip Lashkare</a:t>
            </a:r>
            <a:endParaRPr b="0" i="0" sz="1400" u="none" cap="none" strike="noStrike">
              <a:solidFill>
                <a:srgbClr val="000000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1140050" y="1694800"/>
            <a:ext cx="7188900" cy="4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900">
                <a:latin typeface="Figtree Black"/>
                <a:ea typeface="Figtree Black"/>
                <a:cs typeface="Figtree Black"/>
                <a:sym typeface="Figtree Black"/>
              </a:rPr>
              <a:t>Power Analysis of RRAM Crossbar with and without Selector</a:t>
            </a:r>
            <a:endParaRPr i="0" sz="1900" u="none" cap="none" strike="noStrike">
              <a:solidFill>
                <a:srgbClr val="000000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Google Shape;291;p31"/>
          <p:cNvCxnSpPr>
            <a:stCxn id="292" idx="1"/>
          </p:cNvCxnSpPr>
          <p:nvPr/>
        </p:nvCxnSpPr>
        <p:spPr>
          <a:xfrm rot="10800000">
            <a:off x="-167750" y="3160425"/>
            <a:ext cx="36768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31"/>
          <p:cNvCxnSpPr>
            <a:stCxn id="294" idx="3"/>
          </p:cNvCxnSpPr>
          <p:nvPr/>
        </p:nvCxnSpPr>
        <p:spPr>
          <a:xfrm>
            <a:off x="1285275" y="1502500"/>
            <a:ext cx="8009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31"/>
          <p:cNvSpPr txBox="1"/>
          <p:nvPr>
            <p:ph type="title"/>
          </p:nvPr>
        </p:nvSpPr>
        <p:spPr>
          <a:xfrm>
            <a:off x="6632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294" name="Google Shape;294;p31"/>
          <p:cNvSpPr txBox="1"/>
          <p:nvPr>
            <p:ph idx="5" type="title"/>
          </p:nvPr>
        </p:nvSpPr>
        <p:spPr>
          <a:xfrm>
            <a:off x="919575" y="1319650"/>
            <a:ext cx="365700" cy="36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2" name="Google Shape;292;p31"/>
          <p:cNvSpPr txBox="1"/>
          <p:nvPr>
            <p:ph idx="6" type="title"/>
          </p:nvPr>
        </p:nvSpPr>
        <p:spPr>
          <a:xfrm>
            <a:off x="3509050" y="2977575"/>
            <a:ext cx="365700" cy="36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296" name="Google Shape;296;p31"/>
          <p:cNvSpPr txBox="1"/>
          <p:nvPr>
            <p:ph idx="7" type="title"/>
          </p:nvPr>
        </p:nvSpPr>
        <p:spPr>
          <a:xfrm>
            <a:off x="919575" y="2977575"/>
            <a:ext cx="365700" cy="36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297" name="Google Shape;297;p31"/>
          <p:cNvSpPr txBox="1"/>
          <p:nvPr>
            <p:ph idx="8" type="title"/>
          </p:nvPr>
        </p:nvSpPr>
        <p:spPr>
          <a:xfrm>
            <a:off x="3528275" y="1319650"/>
            <a:ext cx="365700" cy="36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8" name="Google Shape;298;p31"/>
          <p:cNvSpPr txBox="1"/>
          <p:nvPr>
            <p:ph idx="15" type="title"/>
          </p:nvPr>
        </p:nvSpPr>
        <p:spPr>
          <a:xfrm>
            <a:off x="6136975" y="1319650"/>
            <a:ext cx="365700" cy="36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9" name="Google Shape;299;p31"/>
          <p:cNvSpPr txBox="1"/>
          <p:nvPr>
            <p:ph idx="16" type="subTitle"/>
          </p:nvPr>
        </p:nvSpPr>
        <p:spPr>
          <a:xfrm>
            <a:off x="788675" y="1848775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300" name="Google Shape;300;p31"/>
          <p:cNvSpPr txBox="1"/>
          <p:nvPr>
            <p:ph idx="17" type="subTitle"/>
          </p:nvPr>
        </p:nvSpPr>
        <p:spPr>
          <a:xfrm>
            <a:off x="340900" y="3503027"/>
            <a:ext cx="23055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rgbClr val="000000"/>
                </a:solidFill>
              </a:rPr>
              <a:t>Selector-Based Cell (1S1M)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1" name="Google Shape;301;p31"/>
          <p:cNvSpPr txBox="1"/>
          <p:nvPr>
            <p:ph idx="18" type="subTitle"/>
          </p:nvPr>
        </p:nvSpPr>
        <p:spPr>
          <a:xfrm>
            <a:off x="3094175" y="3430275"/>
            <a:ext cx="18939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rgbClr val="000000"/>
                </a:solidFill>
              </a:rPr>
              <a:t> 3×3 Array    Analysis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2" name="Google Shape;302;p31"/>
          <p:cNvSpPr txBox="1"/>
          <p:nvPr>
            <p:ph idx="19" type="subTitle"/>
          </p:nvPr>
        </p:nvSpPr>
        <p:spPr>
          <a:xfrm>
            <a:off x="3418500" y="1805038"/>
            <a:ext cx="230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rgbClr val="000000"/>
                </a:solidFill>
              </a:rPr>
              <a:t> Device Structure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3" name="Google Shape;303;p31"/>
          <p:cNvSpPr txBox="1"/>
          <p:nvPr>
            <p:ph idx="21" type="subTitle"/>
          </p:nvPr>
        </p:nvSpPr>
        <p:spPr>
          <a:xfrm>
            <a:off x="6048325" y="1805050"/>
            <a:ext cx="2885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rgbClr val="000000"/>
                </a:solidFill>
              </a:rPr>
              <a:t>Single Cell Analysis (1M)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304" name="Google Shape;304;p31"/>
          <p:cNvCxnSpPr/>
          <p:nvPr/>
        </p:nvCxnSpPr>
        <p:spPr>
          <a:xfrm>
            <a:off x="3887275" y="3175650"/>
            <a:ext cx="13434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1"/>
          <p:cNvSpPr txBox="1"/>
          <p:nvPr>
            <p:ph idx="6" type="title"/>
          </p:nvPr>
        </p:nvSpPr>
        <p:spPr>
          <a:xfrm>
            <a:off x="5107275" y="2977575"/>
            <a:ext cx="365700" cy="36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06" name="Google Shape;306;p31"/>
          <p:cNvSpPr txBox="1"/>
          <p:nvPr>
            <p:ph idx="19" type="subTitle"/>
          </p:nvPr>
        </p:nvSpPr>
        <p:spPr>
          <a:xfrm>
            <a:off x="4653125" y="3430274"/>
            <a:ext cx="2305500" cy="79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rgbClr val="000000"/>
                </a:solidFill>
              </a:rPr>
              <a:t>Results &amp; Power Comparison</a:t>
            </a:r>
            <a:endParaRPr>
              <a:solidFill>
                <a:srgbClr val="000000"/>
              </a:solidFill>
            </a:endParaRPr>
          </a:p>
        </p:txBody>
      </p:sp>
      <p:cxnSp>
        <p:nvCxnSpPr>
          <p:cNvPr id="307" name="Google Shape;307;p31"/>
          <p:cNvCxnSpPr/>
          <p:nvPr/>
        </p:nvCxnSpPr>
        <p:spPr>
          <a:xfrm>
            <a:off x="5493650" y="3168750"/>
            <a:ext cx="131580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" name="Google Shape;308;p31"/>
          <p:cNvSpPr txBox="1"/>
          <p:nvPr>
            <p:ph idx="6" type="title"/>
          </p:nvPr>
        </p:nvSpPr>
        <p:spPr>
          <a:xfrm>
            <a:off x="6705500" y="2992800"/>
            <a:ext cx="365700" cy="365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309" name="Google Shape;309;p31"/>
          <p:cNvSpPr txBox="1"/>
          <p:nvPr>
            <p:ph idx="19" type="subTitle"/>
          </p:nvPr>
        </p:nvSpPr>
        <p:spPr>
          <a:xfrm>
            <a:off x="6705500" y="3430275"/>
            <a:ext cx="19755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>
                <a:solidFill>
                  <a:srgbClr val="000000"/>
                </a:solidFill>
              </a:rPr>
              <a:t>RRAM Results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2"/>
          <p:cNvSpPr txBox="1"/>
          <p:nvPr>
            <p:ph type="title"/>
          </p:nvPr>
        </p:nvSpPr>
        <p:spPr>
          <a:xfrm>
            <a:off x="1216475" y="1176363"/>
            <a:ext cx="506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4000">
                <a:solidFill>
                  <a:srgbClr val="000000"/>
                </a:solidFill>
              </a:rPr>
              <a:t>Problem Statement</a:t>
            </a:r>
            <a:endParaRPr sz="4000">
              <a:solidFill>
                <a:srgbClr val="000000"/>
              </a:solidFill>
            </a:endParaRPr>
          </a:p>
        </p:txBody>
      </p:sp>
      <p:sp>
        <p:nvSpPr>
          <p:cNvPr id="315" name="Google Shape;315;p32"/>
          <p:cNvSpPr txBox="1"/>
          <p:nvPr>
            <p:ph idx="1" type="subTitle"/>
          </p:nvPr>
        </p:nvSpPr>
        <p:spPr>
          <a:xfrm>
            <a:off x="1216475" y="2018175"/>
            <a:ext cx="5067600" cy="4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000000"/>
                </a:solidFill>
              </a:rPr>
              <a:t>Need for the proposed design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3"/>
          <p:cNvSpPr txBox="1"/>
          <p:nvPr>
            <p:ph idx="1" type="subTitle"/>
          </p:nvPr>
        </p:nvSpPr>
        <p:spPr>
          <a:xfrm>
            <a:off x="857250" y="1019175"/>
            <a:ext cx="3867300" cy="295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●"/>
            </a:pPr>
            <a:r>
              <a:rPr b="1"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Sneak Path Leakage:</a:t>
            </a:r>
            <a:r>
              <a:rPr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Unintended current flow through neighboring unselected cells.</a:t>
            </a:r>
            <a:endParaRPr sz="13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●"/>
            </a:pPr>
            <a:r>
              <a:rPr b="1"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High Power Consumption:</a:t>
            </a:r>
            <a:r>
              <a:rPr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Parasitic paths cause massive energy waste in large arrays.</a:t>
            </a:r>
            <a:endParaRPr sz="13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●"/>
            </a:pPr>
            <a:r>
              <a:rPr b="1"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Reduced Read Margin:</a:t>
            </a:r>
            <a:r>
              <a:rPr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Leakage makes it difficult to distinguish between logic '0' and '1'.</a:t>
            </a:r>
            <a:endParaRPr sz="13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Char char="●"/>
            </a:pPr>
            <a:r>
              <a:rPr b="1"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Requirement:</a:t>
            </a:r>
            <a:r>
              <a:rPr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A </a:t>
            </a:r>
            <a:r>
              <a:rPr b="1"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Selector (1S1R)</a:t>
            </a:r>
            <a:r>
              <a:rPr lang="en" sz="135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 is essential to block leakage and enable reliable scaling</a:t>
            </a:r>
            <a:endParaRPr sz="135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5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321" name="Google Shape;32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102" y="1840350"/>
            <a:ext cx="3206475" cy="204233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3"/>
          <p:cNvSpPr txBox="1"/>
          <p:nvPr>
            <p:ph type="title"/>
          </p:nvPr>
        </p:nvSpPr>
        <p:spPr>
          <a:xfrm>
            <a:off x="727000" y="521800"/>
            <a:ext cx="7702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000">
                <a:solidFill>
                  <a:srgbClr val="000000"/>
                </a:solidFill>
                <a:latin typeface="Figtree ExtraBold"/>
                <a:ea typeface="Figtree ExtraBold"/>
                <a:cs typeface="Figtree ExtraBold"/>
                <a:sym typeface="Figtree ExtraBold"/>
              </a:rPr>
              <a:t>The Need: Overcoming the "Sneak Path"</a:t>
            </a:r>
            <a:endParaRPr sz="3000">
              <a:solidFill>
                <a:srgbClr val="000000"/>
              </a:solidFill>
              <a:latin typeface="Figtree ExtraBold"/>
              <a:ea typeface="Figtree ExtraBold"/>
              <a:cs typeface="Figtree ExtraBold"/>
              <a:sym typeface="Figtree ExtraBol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4"/>
          <p:cNvSpPr txBox="1"/>
          <p:nvPr>
            <p:ph type="title"/>
          </p:nvPr>
        </p:nvSpPr>
        <p:spPr>
          <a:xfrm>
            <a:off x="727000" y="521800"/>
            <a:ext cx="7017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500">
                <a:solidFill>
                  <a:srgbClr val="000000"/>
                </a:solidFill>
              </a:rPr>
              <a:t>Device Structure</a:t>
            </a:r>
            <a:endParaRPr sz="3500">
              <a:solidFill>
                <a:srgbClr val="000000"/>
              </a:solidFill>
            </a:endParaRPr>
          </a:p>
        </p:txBody>
      </p:sp>
      <p:sp>
        <p:nvSpPr>
          <p:cNvPr id="328" name="Google Shape;328;p34"/>
          <p:cNvSpPr txBox="1"/>
          <p:nvPr>
            <p:ph idx="1" type="subTitle"/>
          </p:nvPr>
        </p:nvSpPr>
        <p:spPr>
          <a:xfrm>
            <a:off x="1573613" y="1848425"/>
            <a:ext cx="38001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1400">
                <a:solidFill>
                  <a:srgbClr val="000000"/>
                </a:solidFill>
              </a:rPr>
              <a:t>RRAM uses 1S1M architecture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29" name="Google Shape;3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0738" y="2863375"/>
            <a:ext cx="2997750" cy="93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15513" y="3130232"/>
            <a:ext cx="2191161" cy="666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1" name="Google Shape;331;p34"/>
          <p:cNvCxnSpPr/>
          <p:nvPr/>
        </p:nvCxnSpPr>
        <p:spPr>
          <a:xfrm flipH="1" rot="10800000">
            <a:off x="3764038" y="3401637"/>
            <a:ext cx="919200" cy="81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34"/>
          <p:cNvSpPr/>
          <p:nvPr/>
        </p:nvSpPr>
        <p:spPr>
          <a:xfrm>
            <a:off x="1325513" y="2955400"/>
            <a:ext cx="2191200" cy="841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333" name="Google Shape;333;p34"/>
          <p:cNvSpPr/>
          <p:nvPr/>
        </p:nvSpPr>
        <p:spPr>
          <a:xfrm>
            <a:off x="5040613" y="2863375"/>
            <a:ext cx="2887800" cy="933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5"/>
          <p:cNvSpPr txBox="1"/>
          <p:nvPr>
            <p:ph idx="1" type="subTitle"/>
          </p:nvPr>
        </p:nvSpPr>
        <p:spPr>
          <a:xfrm>
            <a:off x="911350" y="1211375"/>
            <a:ext cx="4809300" cy="329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Non-Linear Switch:</a:t>
            </a:r>
            <a:r>
              <a:rPr lang="en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The Selector (1S) acts as a high-resistance "open circuit" for any voltage below the threshold (V &lt; V_th).</a:t>
            </a:r>
            <a:endParaRPr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Threshold Triggering:</a:t>
            </a:r>
            <a:r>
              <a:rPr lang="en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Only the full-bias (V_app) at the selected intersection triggers conduction; half-bias (V_app/2) nodes remain non-conductive.</a:t>
            </a:r>
            <a:endParaRPr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Cell Isolation:</a:t>
            </a:r>
            <a:r>
              <a:rPr lang="en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Decouples the memory element (1M) from the rest of the array, ensuring the Bit Line only "sees" the target cell.</a:t>
            </a:r>
            <a:endParaRPr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Energy Efficiency:</a:t>
            </a:r>
            <a:r>
              <a:rPr lang="en">
                <a:solidFill>
                  <a:srgbClr val="000000"/>
                </a:solidFill>
                <a:latin typeface="Figtree"/>
                <a:ea typeface="Figtree"/>
                <a:cs typeface="Figtree"/>
                <a:sym typeface="Figtree"/>
              </a:rPr>
              <a:t> Drastically lowers static power by keeping unselected cells in a near-zero current state.</a:t>
            </a:r>
            <a:endParaRPr>
              <a:solidFill>
                <a:srgbClr val="000000"/>
              </a:solidFill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719900" y="520075"/>
            <a:ext cx="5000700" cy="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Figtree Black"/>
                <a:ea typeface="Figtree Black"/>
                <a:cs typeface="Figtree Black"/>
                <a:sym typeface="Figtree Black"/>
              </a:rPr>
              <a:t>Architecture: Why 1S1M? </a:t>
            </a:r>
            <a:endParaRPr sz="3000">
              <a:latin typeface="Figtree Black"/>
              <a:ea typeface="Figtree Black"/>
              <a:cs typeface="Figtree Black"/>
              <a:sym typeface="Figtree Black"/>
            </a:endParaRPr>
          </a:p>
        </p:txBody>
      </p:sp>
      <p:pic>
        <p:nvPicPr>
          <p:cNvPr id="340" name="Google Shape;34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0650" y="1671775"/>
            <a:ext cx="2716675" cy="23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6"/>
          <p:cNvSpPr txBox="1"/>
          <p:nvPr>
            <p:ph type="title"/>
          </p:nvPr>
        </p:nvSpPr>
        <p:spPr>
          <a:xfrm>
            <a:off x="730850" y="550700"/>
            <a:ext cx="701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500">
                <a:solidFill>
                  <a:srgbClr val="000000"/>
                </a:solidFill>
              </a:rPr>
              <a:t>Single Cell Analysis (1M)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>
                <a:solidFill>
                  <a:srgbClr val="000000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LRS - 1M ohm</a:t>
            </a:r>
            <a:endParaRPr sz="2000">
              <a:solidFill>
                <a:srgbClr val="000000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pic>
        <p:nvPicPr>
          <p:cNvPr id="346" name="Google Shape;3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850" y="1944300"/>
            <a:ext cx="7709250" cy="264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7"/>
          <p:cNvSpPr txBox="1"/>
          <p:nvPr>
            <p:ph type="title"/>
          </p:nvPr>
        </p:nvSpPr>
        <p:spPr>
          <a:xfrm>
            <a:off x="730850" y="550700"/>
            <a:ext cx="701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Single Cell Analysis (1M)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2000">
                <a:solidFill>
                  <a:srgbClr val="000000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HRS - 1G ohm</a:t>
            </a:r>
            <a:endParaRPr sz="2000">
              <a:solidFill>
                <a:srgbClr val="000000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 sz="3500">
              <a:solidFill>
                <a:srgbClr val="000000"/>
              </a:solidFill>
            </a:endParaRPr>
          </a:p>
        </p:txBody>
      </p:sp>
      <p:pic>
        <p:nvPicPr>
          <p:cNvPr id="352" name="Google Shape;35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850" y="1936325"/>
            <a:ext cx="7703500" cy="261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8"/>
          <p:cNvSpPr txBox="1"/>
          <p:nvPr>
            <p:ph type="title"/>
          </p:nvPr>
        </p:nvSpPr>
        <p:spPr>
          <a:xfrm>
            <a:off x="730850" y="550700"/>
            <a:ext cx="701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3500">
                <a:solidFill>
                  <a:srgbClr val="000000"/>
                </a:solidFill>
              </a:rPr>
              <a:t>Selector-Based Cell (1S1M)</a:t>
            </a:r>
            <a:endParaRPr sz="5200">
              <a:solidFill>
                <a:srgbClr val="000000"/>
              </a:solidFill>
            </a:endParaRPr>
          </a:p>
        </p:txBody>
      </p:sp>
      <p:pic>
        <p:nvPicPr>
          <p:cNvPr id="358" name="Google Shape;35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7250" y="1190900"/>
            <a:ext cx="6414325" cy="335724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8"/>
          <p:cNvSpPr txBox="1"/>
          <p:nvPr/>
        </p:nvSpPr>
        <p:spPr>
          <a:xfrm>
            <a:off x="934300" y="2316400"/>
            <a:ext cx="75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LRS </a:t>
            </a:r>
            <a:endParaRPr sz="18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9"/>
          <p:cNvSpPr txBox="1"/>
          <p:nvPr>
            <p:ph type="title"/>
          </p:nvPr>
        </p:nvSpPr>
        <p:spPr>
          <a:xfrm>
            <a:off x="730850" y="550700"/>
            <a:ext cx="701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Selector-Based Cell (1S1M)</a:t>
            </a:r>
            <a:endParaRPr sz="5200">
              <a:solidFill>
                <a:srgbClr val="000000"/>
              </a:solidFill>
            </a:endParaRPr>
          </a:p>
        </p:txBody>
      </p:sp>
      <p:sp>
        <p:nvSpPr>
          <p:cNvPr id="365" name="Google Shape;365;p39"/>
          <p:cNvSpPr txBox="1"/>
          <p:nvPr/>
        </p:nvSpPr>
        <p:spPr>
          <a:xfrm>
            <a:off x="934300" y="2316400"/>
            <a:ext cx="750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H</a:t>
            </a:r>
            <a:r>
              <a:rPr lang="en" sz="1800">
                <a:solidFill>
                  <a:schemeClr val="dk1"/>
                </a:solidFill>
                <a:latin typeface="Figtree Medium"/>
                <a:ea typeface="Figtree Medium"/>
                <a:cs typeface="Figtree Medium"/>
                <a:sym typeface="Figtree Medium"/>
              </a:rPr>
              <a:t>RS </a:t>
            </a:r>
            <a:endParaRPr sz="1800">
              <a:solidFill>
                <a:schemeClr val="dk1"/>
              </a:solidFill>
              <a:latin typeface="Figtree Medium"/>
              <a:ea typeface="Figtree Medium"/>
              <a:cs typeface="Figtree Medium"/>
              <a:sym typeface="Figtree Medium"/>
            </a:endParaRPr>
          </a:p>
        </p:txBody>
      </p:sp>
      <p:pic>
        <p:nvPicPr>
          <p:cNvPr id="366" name="Google Shape;36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0125" y="1190900"/>
            <a:ext cx="6322426" cy="332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0"/>
          <p:cNvSpPr txBox="1"/>
          <p:nvPr>
            <p:ph type="title"/>
          </p:nvPr>
        </p:nvSpPr>
        <p:spPr>
          <a:xfrm>
            <a:off x="730850" y="550700"/>
            <a:ext cx="701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Power Comparison (1M vs 1S1M)</a:t>
            </a:r>
            <a:endParaRPr sz="5200">
              <a:solidFill>
                <a:srgbClr val="000000"/>
              </a:solidFill>
            </a:endParaRPr>
          </a:p>
        </p:txBody>
      </p:sp>
      <p:graphicFrame>
        <p:nvGraphicFramePr>
          <p:cNvPr id="372" name="Google Shape;372;p40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{73427DEC-F5A1-465E-8CD7-2093E11A53D8}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CASE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STATE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SELECTED CELL POWER (W)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HALF </a:t>
                      </a: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SELECTED CELL POWER (W)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1M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LRS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4u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1u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HRS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4n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1S1M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LRS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1.089u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21.418n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HRS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1.925n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199.196p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1"/>
          <p:cNvSpPr txBox="1"/>
          <p:nvPr>
            <p:ph type="title"/>
          </p:nvPr>
        </p:nvSpPr>
        <p:spPr>
          <a:xfrm>
            <a:off x="1296200" y="1616375"/>
            <a:ext cx="2446800" cy="20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3500">
                <a:solidFill>
                  <a:srgbClr val="000000"/>
                </a:solidFill>
              </a:rPr>
              <a:t>3×3 Array Analysis </a:t>
            </a:r>
            <a:endParaRPr sz="5200">
              <a:solidFill>
                <a:srgbClr val="000000"/>
              </a:solidFill>
            </a:endParaRPr>
          </a:p>
        </p:txBody>
      </p:sp>
      <p:pic>
        <p:nvPicPr>
          <p:cNvPr id="378" name="Google Shape;37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8750" y="536550"/>
            <a:ext cx="3892975" cy="40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2"/>
          <p:cNvSpPr txBox="1"/>
          <p:nvPr>
            <p:ph type="title"/>
          </p:nvPr>
        </p:nvSpPr>
        <p:spPr>
          <a:xfrm>
            <a:off x="730750" y="515425"/>
            <a:ext cx="1979400" cy="4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3500">
                <a:solidFill>
                  <a:srgbClr val="000000"/>
                </a:solidFill>
              </a:rPr>
              <a:t>3×3 Array Analysis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Without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Selector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(LRS) </a:t>
            </a:r>
            <a:endParaRPr sz="5200">
              <a:solidFill>
                <a:srgbClr val="000000"/>
              </a:solidFill>
            </a:endParaRPr>
          </a:p>
        </p:txBody>
      </p:sp>
      <p:pic>
        <p:nvPicPr>
          <p:cNvPr id="384" name="Google Shape;38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725" y="527400"/>
            <a:ext cx="4763942" cy="40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2"/>
          <p:cNvSpPr txBox="1"/>
          <p:nvPr/>
        </p:nvSpPr>
        <p:spPr>
          <a:xfrm>
            <a:off x="3413850" y="4669375"/>
            <a:ext cx="2316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TOTAL POWER = 8uW</a:t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type="title"/>
          </p:nvPr>
        </p:nvSpPr>
        <p:spPr>
          <a:xfrm>
            <a:off x="730750" y="515425"/>
            <a:ext cx="1979400" cy="4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3500">
                <a:solidFill>
                  <a:srgbClr val="000000"/>
                </a:solidFill>
              </a:rPr>
              <a:t>3×3 Array Analysis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Without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Selector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(HRS) </a:t>
            </a:r>
            <a:endParaRPr sz="5200">
              <a:solidFill>
                <a:srgbClr val="000000"/>
              </a:solidFill>
            </a:endParaRPr>
          </a:p>
        </p:txBody>
      </p:sp>
      <p:pic>
        <p:nvPicPr>
          <p:cNvPr id="391" name="Google Shape;39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0900" y="515425"/>
            <a:ext cx="4758025" cy="4088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3"/>
          <p:cNvSpPr txBox="1"/>
          <p:nvPr/>
        </p:nvSpPr>
        <p:spPr>
          <a:xfrm>
            <a:off x="3413850" y="4669375"/>
            <a:ext cx="2316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TOTAL POWER = 8nW</a:t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730750" y="515425"/>
            <a:ext cx="1979400" cy="4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3500">
                <a:solidFill>
                  <a:srgbClr val="000000"/>
                </a:solidFill>
              </a:rPr>
              <a:t>3×3 Array Analysis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With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Selector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(LRS) </a:t>
            </a:r>
            <a:endParaRPr sz="5200">
              <a:solidFill>
                <a:srgbClr val="000000"/>
              </a:solidFill>
            </a:endParaRPr>
          </a:p>
        </p:txBody>
      </p:sp>
      <p:pic>
        <p:nvPicPr>
          <p:cNvPr id="398" name="Google Shape;398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0125" y="585113"/>
            <a:ext cx="5705700" cy="3973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4"/>
          <p:cNvSpPr txBox="1"/>
          <p:nvPr/>
        </p:nvSpPr>
        <p:spPr>
          <a:xfrm>
            <a:off x="3413850" y="4669375"/>
            <a:ext cx="2316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TOTAL POWER = 1.174uW</a:t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5"/>
          <p:cNvSpPr txBox="1"/>
          <p:nvPr>
            <p:ph type="title"/>
          </p:nvPr>
        </p:nvSpPr>
        <p:spPr>
          <a:xfrm>
            <a:off x="730750" y="515425"/>
            <a:ext cx="2022600" cy="4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800">
                <a:solidFill>
                  <a:srgbClr val="000000"/>
                </a:solidFill>
              </a:rPr>
              <a:t> </a:t>
            </a:r>
            <a:r>
              <a:rPr lang="en" sz="3500">
                <a:solidFill>
                  <a:srgbClr val="000000"/>
                </a:solidFill>
              </a:rPr>
              <a:t>3×3 Array Analysis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With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Selector</a:t>
            </a:r>
            <a:endParaRPr sz="35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(HRS) </a:t>
            </a:r>
            <a:endParaRPr sz="5200">
              <a:solidFill>
                <a:srgbClr val="000000"/>
              </a:solidFill>
            </a:endParaRPr>
          </a:p>
        </p:txBody>
      </p:sp>
      <p:pic>
        <p:nvPicPr>
          <p:cNvPr id="405" name="Google Shape;40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850" y="565450"/>
            <a:ext cx="5720899" cy="4012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45"/>
          <p:cNvSpPr txBox="1"/>
          <p:nvPr/>
        </p:nvSpPr>
        <p:spPr>
          <a:xfrm>
            <a:off x="3413850" y="4669375"/>
            <a:ext cx="23163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TOTAL POWER = 2.721nW</a:t>
            </a:r>
            <a:endParaRPr b="1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"/>
          <p:cNvSpPr txBox="1"/>
          <p:nvPr>
            <p:ph type="title"/>
          </p:nvPr>
        </p:nvSpPr>
        <p:spPr>
          <a:xfrm>
            <a:off x="730850" y="550700"/>
            <a:ext cx="701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Power Comparison (3x3 array)</a:t>
            </a:r>
            <a:endParaRPr sz="5200">
              <a:solidFill>
                <a:srgbClr val="000000"/>
              </a:solidFill>
            </a:endParaRPr>
          </a:p>
        </p:txBody>
      </p:sp>
      <p:graphicFrame>
        <p:nvGraphicFramePr>
          <p:cNvPr id="412" name="Google Shape;412;p46"/>
          <p:cNvGraphicFramePr/>
          <p:nvPr/>
        </p:nvGraphicFramePr>
        <p:xfrm>
          <a:off x="952500" y="1527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{73427DEC-F5A1-465E-8CD7-2093E11A53D8}</a:tableStyleId>
              </a:tblPr>
              <a:tblGrid>
                <a:gridCol w="1719650"/>
                <a:gridCol w="117595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CASE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STATE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SELECTED CELL POWER (W)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HALF SELECTED CELL POWER (W)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TOTAL POWER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 SemiBold"/>
                          <a:ea typeface="Figtree SemiBold"/>
                          <a:cs typeface="Figtree SemiBold"/>
                          <a:sym typeface="Figtree SemiBold"/>
                        </a:rPr>
                        <a:t>(W)</a:t>
                      </a:r>
                      <a:endParaRPr>
                        <a:latin typeface="Figtree SemiBold"/>
                        <a:ea typeface="Figtree SemiBold"/>
                        <a:cs typeface="Figtree SemiBold"/>
                        <a:sym typeface="Figtree SemiBold"/>
                      </a:endParaRPr>
                    </a:p>
                  </a:txBody>
                  <a:tcPr marT="91425" marB="91425" marR="91425" marL="91425" anchor="ctr">
                    <a:solidFill>
                      <a:srgbClr val="00FFFF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3×3 Array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Without Selector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LRS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4u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1u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8u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HRS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4n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8n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3×3 Array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With Selector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LRS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1.089u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21.418n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1.174u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HRS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1.925n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199.196p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Figtree"/>
                          <a:ea typeface="Figtree"/>
                          <a:cs typeface="Figtree"/>
                          <a:sym typeface="Figtree"/>
                        </a:rPr>
                        <a:t>2.721n</a:t>
                      </a:r>
                      <a:endParaRPr>
                        <a:latin typeface="Figtree"/>
                        <a:ea typeface="Figtree"/>
                        <a:cs typeface="Figtree"/>
                        <a:sym typeface="Figtree"/>
                      </a:endParaRPr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type="title"/>
          </p:nvPr>
        </p:nvSpPr>
        <p:spPr>
          <a:xfrm>
            <a:off x="730850" y="550700"/>
            <a:ext cx="7017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500">
                <a:solidFill>
                  <a:srgbClr val="000000"/>
                </a:solidFill>
              </a:rPr>
              <a:t>Results</a:t>
            </a:r>
            <a:endParaRPr sz="5200">
              <a:solidFill>
                <a:srgbClr val="000000"/>
              </a:solidFill>
            </a:endParaRPr>
          </a:p>
        </p:txBody>
      </p:sp>
      <p:sp>
        <p:nvSpPr>
          <p:cNvPr id="418" name="Google Shape;418;p47"/>
          <p:cNvSpPr txBox="1"/>
          <p:nvPr/>
        </p:nvSpPr>
        <p:spPr>
          <a:xfrm>
            <a:off x="874800" y="1439750"/>
            <a:ext cx="7481400" cy="136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So in 3x3 array the power reduction after introducing selector device is:</a:t>
            </a:r>
            <a:endParaRPr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"/>
              <a:buChar char="●"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LRS power reduced by ≈ 6.8 times.</a:t>
            </a:r>
            <a:endParaRPr>
              <a:latin typeface="Figtree"/>
              <a:ea typeface="Figtree"/>
              <a:cs typeface="Figtree"/>
              <a:sym typeface="Figtre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"/>
              <a:buChar char="●"/>
            </a:pPr>
            <a:r>
              <a:rPr lang="en">
                <a:latin typeface="Figtree"/>
                <a:ea typeface="Figtree"/>
                <a:cs typeface="Figtree"/>
                <a:sym typeface="Figtree"/>
              </a:rPr>
              <a:t>HRS power reduced by≈ 3 times.</a:t>
            </a:r>
            <a:endParaRPr>
              <a:latin typeface="Figtree"/>
              <a:ea typeface="Figtree"/>
              <a:cs typeface="Figtree"/>
              <a:sym typeface="Figtre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8"/>
          <p:cNvSpPr txBox="1"/>
          <p:nvPr>
            <p:ph type="title"/>
          </p:nvPr>
        </p:nvSpPr>
        <p:spPr>
          <a:xfrm>
            <a:off x="730850" y="550700"/>
            <a:ext cx="38412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100">
                <a:solidFill>
                  <a:srgbClr val="000000"/>
                </a:solidFill>
              </a:rPr>
              <a:t>RRAM 3x3 array</a:t>
            </a:r>
            <a:endParaRPr sz="4800">
              <a:solidFill>
                <a:srgbClr val="000000"/>
              </a:solidFill>
            </a:endParaRPr>
          </a:p>
        </p:txBody>
      </p:sp>
      <p:pic>
        <p:nvPicPr>
          <p:cNvPr id="424" name="Google Shape;42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850" y="1147600"/>
            <a:ext cx="3784125" cy="2911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350" y="550700"/>
            <a:ext cx="3224651" cy="36537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8"/>
          <p:cNvSpPr txBox="1"/>
          <p:nvPr/>
        </p:nvSpPr>
        <p:spPr>
          <a:xfrm>
            <a:off x="1176575" y="4125675"/>
            <a:ext cx="3023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rPr>
              <a:t>Without selector device</a:t>
            </a:r>
            <a:endParaRPr>
              <a:solidFill>
                <a:schemeClr val="dk1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  <p:sp>
        <p:nvSpPr>
          <p:cNvPr id="427" name="Google Shape;427;p48"/>
          <p:cNvSpPr txBox="1"/>
          <p:nvPr/>
        </p:nvSpPr>
        <p:spPr>
          <a:xfrm>
            <a:off x="5507000" y="4125675"/>
            <a:ext cx="2553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Hanken Grotesk Medium"/>
                <a:ea typeface="Hanken Grotesk Medium"/>
                <a:cs typeface="Hanken Grotesk Medium"/>
                <a:sym typeface="Hanken Grotesk Medium"/>
              </a:rPr>
              <a:t>With selector device</a:t>
            </a:r>
            <a:endParaRPr>
              <a:solidFill>
                <a:schemeClr val="dk1"/>
              </a:solidFill>
              <a:latin typeface="Hanken Grotesk Medium"/>
              <a:ea typeface="Hanken Grotesk Medium"/>
              <a:cs typeface="Hanken Grotesk Medium"/>
              <a:sym typeface="Hanken Grotesk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825" y="1109350"/>
            <a:ext cx="7691850" cy="344747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9"/>
          <p:cNvSpPr txBox="1"/>
          <p:nvPr>
            <p:ph type="title"/>
          </p:nvPr>
        </p:nvSpPr>
        <p:spPr>
          <a:xfrm>
            <a:off x="730850" y="550700"/>
            <a:ext cx="76920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700">
                <a:solidFill>
                  <a:srgbClr val="000000"/>
                </a:solidFill>
              </a:rPr>
              <a:t>Transient Analysis of RRAM without selector</a:t>
            </a:r>
            <a:endParaRPr sz="2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 txBox="1"/>
          <p:nvPr>
            <p:ph type="title"/>
          </p:nvPr>
        </p:nvSpPr>
        <p:spPr>
          <a:xfrm>
            <a:off x="730850" y="550700"/>
            <a:ext cx="76920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700">
                <a:solidFill>
                  <a:srgbClr val="000000"/>
                </a:solidFill>
              </a:rPr>
              <a:t>Transient Analysis of RRAM with selector</a:t>
            </a:r>
            <a:endParaRPr sz="2700">
              <a:solidFill>
                <a:srgbClr val="000000"/>
              </a:solidFill>
            </a:endParaRPr>
          </a:p>
        </p:txBody>
      </p:sp>
      <p:pic>
        <p:nvPicPr>
          <p:cNvPr id="439" name="Google Shape;439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850" y="1109300"/>
            <a:ext cx="7692000" cy="3433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1"/>
          <p:cNvSpPr txBox="1"/>
          <p:nvPr/>
        </p:nvSpPr>
        <p:spPr>
          <a:xfrm>
            <a:off x="1937800" y="1919250"/>
            <a:ext cx="56328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rPr>
              <a:t>THANK YOU</a:t>
            </a:r>
            <a:endParaRPr sz="6000">
              <a:solidFill>
                <a:schemeClr val="dk1"/>
              </a:solidFill>
              <a:latin typeface="Figtree Black"/>
              <a:ea typeface="Figtree Black"/>
              <a:cs typeface="Figtree Black"/>
              <a:sym typeface="Figtree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